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caaf74e36a4d5a" /><Relationship Type="http://schemas.openxmlformats.org/officeDocument/2006/relationships/extended-properties" Target="/docProps/app.xml" Id="Raa05a7f40fd14550" /><Relationship Type="http://schemas.openxmlformats.org/officeDocument/2006/relationships/officeDocument" Target="/ppt/presentation.xml" Id="R00e6e985f72d44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8020e5c2614d96"/>
  </p:sldMasterIdLst>
  <p:notesMasterIdLst>
    <p:notesMasterId xmlns:r="http://schemas.openxmlformats.org/officeDocument/2006/relationships" r:id="Ref4a6d9c9fcd4d69"/>
  </p:notesMasterIdLst>
  <p:sldIdLst>
    <p:sldId xmlns:r="http://schemas.openxmlformats.org/officeDocument/2006/relationships" id="256" r:id="Rb0f91acfd8d74b98"/>
    <p:sldId xmlns:r="http://schemas.openxmlformats.org/officeDocument/2006/relationships" id="257" r:id="R76809c2022cd4895"/>
    <p:sldId xmlns:r="http://schemas.openxmlformats.org/officeDocument/2006/relationships" id="258" r:id="R650065a081f941fd"/>
    <p:sldId xmlns:r="http://schemas.openxmlformats.org/officeDocument/2006/relationships" id="259" r:id="R04b2a62aede7418b"/>
    <p:sldId xmlns:r="http://schemas.openxmlformats.org/officeDocument/2006/relationships" id="260" r:id="R141e845c86764013"/>
    <p:sldId xmlns:r="http://schemas.openxmlformats.org/officeDocument/2006/relationships" id="261" r:id="R0cdb34ffffa043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e29a5958f64667" /><Relationship Type="http://schemas.openxmlformats.org/officeDocument/2006/relationships/slideMaster" Target="/ppt/slideMasters/slideMaster1.xml" Id="R338020e5c2614d96" /><Relationship Type="http://schemas.openxmlformats.org/officeDocument/2006/relationships/notesMaster" Target="/ppt/notesMasters/notesMaster1.xml" Id="Ref4a6d9c9fcd4d69" /><Relationship Type="http://schemas.openxmlformats.org/officeDocument/2006/relationships/presProps" Target="/ppt/presProps.xml" Id="Rd1ad6ab3df71413f" /><Relationship Type="http://schemas.openxmlformats.org/officeDocument/2006/relationships/tableStyles" Target="/ppt/tableStyles.xml" Id="Re34b1486722543c4" /><Relationship Type="http://schemas.openxmlformats.org/officeDocument/2006/relationships/slide" Target="/ppt/slides/slide1.xml" Id="Rb0f91acfd8d74b98" /><Relationship Type="http://schemas.openxmlformats.org/officeDocument/2006/relationships/slide" Target="/ppt/slides/slide2.xml" Id="R76809c2022cd4895" /><Relationship Type="http://schemas.openxmlformats.org/officeDocument/2006/relationships/slide" Target="/ppt/slides/slide3.xml" Id="R650065a081f941fd" /><Relationship Type="http://schemas.openxmlformats.org/officeDocument/2006/relationships/slide" Target="/ppt/slides/slide4.xml" Id="R04b2a62aede7418b" /><Relationship Type="http://schemas.openxmlformats.org/officeDocument/2006/relationships/slide" Target="/ppt/slides/slide5.xml" Id="R141e845c86764013" /><Relationship Type="http://schemas.openxmlformats.org/officeDocument/2006/relationships/slide" Target="/ppt/slides/slide6.xml" Id="R0cdb34ffffa0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27d35c660944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79900dc87246b5" /><Relationship Type="http://schemas.openxmlformats.org/officeDocument/2006/relationships/notesMaster" Target="/ppt/notesMasters/notesMaster1.xml" Id="Ra70eafa91f9b42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a2a84965564e2d" /><Relationship Type="http://schemas.openxmlformats.org/officeDocument/2006/relationships/notesMaster" Target="/ppt/notesMasters/notesMaster1.xml" Id="R94c36bd760b24d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fbf8a0b5c34932" /><Relationship Type="http://schemas.openxmlformats.org/officeDocument/2006/relationships/notesMaster" Target="/ppt/notesMasters/notesMaster1.xml" Id="R19e0121f1b0549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b9975aa1f7426a" /><Relationship Type="http://schemas.openxmlformats.org/officeDocument/2006/relationships/notesMaster" Target="/ppt/notesMasters/notesMaster1.xml" Id="Re840e4371a174f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d2d6b0e3c74397" /><Relationship Type="http://schemas.openxmlformats.org/officeDocument/2006/relationships/notesMaster" Target="/ppt/notesMasters/notesMaster1.xml" Id="R886d612d05e842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392e24c8ab43cc" /><Relationship Type="http://schemas.openxmlformats.org/officeDocument/2006/relationships/notesMaster" Target="/ppt/notesMasters/notesMaster1.xml" Id="R8a0f6de678ee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final-d08.pdf, title slide and project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final-d08.pdf, problem statement; README.md.txt, benchmark purpose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results/comparison/benchmark-comparison.json. Counts: 60 cases, 20 per artifact family, 160 applicable scanner-case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README.md.txt and pipeline scripts. Stages: raw evidence, normalisation, ground-truth matching, metrics and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Scanner Benchmark frontend and live dashboard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results/comparison/benchmark-comparison.json. Overall micro F1: Checkov 31.97%, Trivy 42.92%, Kubescape 17.74%. Trivy Dockerfile micro F1 94.74%; Trivy Helm micro F1 27.03%.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f18ce86c3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a9bedb1104ea3" /><Relationship Type="http://schemas.openxmlformats.org/officeDocument/2006/relationships/slideLayout" Target="/ppt/slideLayouts/slideLayout1.xml" Id="Rdfcf4f36ea4a46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cf4f36ea4a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d14d7943446f9" /><Relationship Type="http://schemas.openxmlformats.org/officeDocument/2006/relationships/image" Target="/ppt/media/image.jpeg" Id="R18d8313e1f274565" /><Relationship Type="http://schemas.openxmlformats.org/officeDocument/2006/relationships/notesSlide" Target="/ppt/notesSlides/notesSlide1.xml" Id="R53796bed2ac144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a825d9b674bcb" /><Relationship Type="http://schemas.openxmlformats.org/officeDocument/2006/relationships/image" Target="/ppt/media/image2.jpeg" Id="R184d42b82d5d47c4" /><Relationship Type="http://schemas.openxmlformats.org/officeDocument/2006/relationships/notesSlide" Target="/ppt/notesSlides/notesSlide2.xml" Id="R863255ca6ae84d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321ed99064b93" /><Relationship Type="http://schemas.openxmlformats.org/officeDocument/2006/relationships/notesSlide" Target="/ppt/notesSlides/notesSlide3.xml" Id="R8364d2918cb54d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abc8301544af5" /><Relationship Type="http://schemas.openxmlformats.org/officeDocument/2006/relationships/notesSlide" Target="/ppt/notesSlides/notesSlide4.xml" Id="R18a09f6150bd45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69249d89d4e43" /><Relationship Type="http://schemas.openxmlformats.org/officeDocument/2006/relationships/image" Target="/ppt/media/image.png" Id="R18781f3872fd40db" /><Relationship Type="http://schemas.openxmlformats.org/officeDocument/2006/relationships/notesSlide" Target="/ppt/notesSlides/notesSlide5.xml" Id="R5f6673ed5c964b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a127072314c29" /><Relationship Type="http://schemas.openxmlformats.org/officeDocument/2006/relationships/chart" Target="/ppt/slides/charts/chart1.xml" Id="R71818081f4b34117" /><Relationship Type="http://schemas.openxmlformats.org/officeDocument/2006/relationships/image" Target="/ppt/media/image3.jpeg" Id="Rd7c40f6706664e0c" /><Relationship Type="http://schemas.openxmlformats.org/officeDocument/2006/relationships/notesSlide" Target="/ppt/notesSlides/notesSlide6.xml" Id="R96cee57744bd4d2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Overall micro F1</c:v>
          </c:tx>
          <c:spPr>
            <a:solidFill xmlns:a="http://schemas.openxmlformats.org/drawingml/2006/main">
              <a:srgbClr val="2F5B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E8DA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A817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C1D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Checkov</c:v>
                </c:pt>
                <c:pt idx="1">
                  <c:v>Trivy</c:v>
                </c:pt>
                <c:pt idx="2">
                  <c:v>Kubescape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31.97</c:v>
                </c:pt>
                <c:pt idx="1">
                  <c:v>42.92</c:v>
                </c:pt>
                <c:pt idx="2">
                  <c:v>17.74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venir Next"/>
                    <a:ea typeface="Avenir Next"/>
                    <a:cs typeface="Avenir Next"/>
                  </a:rPr>
                  <a:t>Overall micro 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313e1f274565"/>
          <a:srcRect xmlns:a="http://schemas.openxmlformats.org/drawingml/2006/main" l="0" t="2030" r="0" b="2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3EB96-64DB-4FC7-BE19-FEF5172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929F2-68AF-4F98-98DB-A88BD1B0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240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Benchmarking Cloud-Native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Misconfiguration Scanners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1E2E6-743C-48CE-8BB0-93891082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A controlled comparison of Checkov, Trivy and Kubescape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24B4F-6840-43B3-A2C9-E60C955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244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767FC-24DF-4E4A-865F-C693AC24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Honours research presentation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University of Johannesburg</a:t>
            </a:r>
          </a:p>
        </p:txBody>
      </p:sp>
    </p:spTree>
    <p:extLst>
      <p:ext uri="{BB962C8B-B14F-4D97-AF65-F5344CB8AC3E}">
        <p14:creationId xmlns:p14="http://schemas.microsoft.com/office/powerpoint/2010/main" val="815076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B8E86-93EE-4875-BE67-EF52B5C4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Why scanner results are difficult to compare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F2B11-1FFA-4A03-9AE0-254D6F8C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C72BF-21FB-4F38-90F4-2C914EDE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The same artifact can produce incompatible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4186D-C1D6-4AAA-903F-C495F6E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Different rule 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1C29E-DE3F-4CD4-A250-08F1ED1A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Equivalent findings use scanner-specific names, so matching by identifier alone fails.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EA37D-27F9-4B87-9697-76F619C7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31089-0A10-4CA9-A904-79D7DBD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Different JSON structures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93C34-97A3-41EE-892C-5B536A58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Raw alert totals do not prove that a scanner found the issue that the case was built to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A0AE5-8EAF-4E2E-859F-A8DC126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5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 fair comparison needs labelled ground truth and one common evaluation method.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d42b82d5d47c4"/>
          <a:srcRect xmlns:a="http://schemas.openxmlformats.org/drawingml/2006/main" l="0" t="23135" r="0" b="23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485900"/>
            <a:ext cx="5905500" cy="4762500"/>
          </a:xfrm>
          <a:prstGeom xmlns:a="http://schemas.openxmlformats.org/drawingml/2006/main" prst="roundRect">
            <a:avLst>
              <a:gd name="adj" fmla="val 4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C2962-EDE4-4CF4-9A4B-A76A2113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3002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A02E7-82BA-4835-B534-3C1601D9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Controlled benchmark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80FA5-348A-40CF-BE9B-157F7BFD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64A79-0D54-4E5A-A049-9FAAB759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Ground truth is defined before scanner performance is evaluated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B9409-B3D0-4AB0-8BCC-DC78046B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2AB6A-FBF1-4FBA-9750-FE3DD877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deliberately insecure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9B17C-B3A0-4191-8903-29C8563C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76400"/>
            <a:ext cx="190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88B56-25E9-469D-843E-948289F2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160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BE45E-3A4C-45C3-8E10-B0D099F3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applicable scanner-case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44088-0005-43CA-BFCF-08DCE44E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190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5A98F-75FF-466E-8101-8239ADAF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E0BD5-1177-46C2-BD57-0C5DA494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artifact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2D2C1-BB13-41B8-8F32-B0BF2E77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946AF-EBD3-4080-9FB9-DF4459D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20 Kubernetes YAML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DEADE-6132-46F2-9E28-8AC8139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20 Dockerfiles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406EB-BEA7-43C2-AEF3-95A7A7D0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20 Helm charts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4DB50-F300-4CFC-A11D-4E54B607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Checkov · Trivy · Kubescape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4A96E-B457-4A51-B842-D802B6C2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Kubescape is not applicable to Dockerfiles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8C143-794C-4CD5-8C86-06EAFD37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6046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6E5DE-B25E-4DD0-A926-2D5DC943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Evaluation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FF0B1-6D62-4A03-8E78-1EF56CF1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BF2CA-9062-4960-BB41-EE8A68E1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Every scanner follows the same traceable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BF078-FA65-4416-82C0-0986FEAE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111B3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F505C-00F9-41EB-AF36-D7791657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F3E04-C3A0-4369-9B55-9A364B9C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Raw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1056F-67F0-41DE-85AA-A9007BB0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Keep the scanner's original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30A0C-9861-4DD3-B127-8A28E803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73C54-4D2B-4FC3-B28C-D2D24EC8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19050">
            <a:solidFill>
              <a:srgbClr val="0A817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103C0-C6A0-4F26-92AC-57D512B2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C7E75-E950-4678-B658-611500E4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Normalise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1F6C7-DAC4-4772-8FA1-E2C0AAEA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Convert findings to one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1453F-EE06-4888-B0BE-55B2124B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A3491-E91D-418F-A50A-928FA35B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2F5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0632A-72A1-4966-B2B5-807A5E33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AC898-4913-4417-B8F1-703C645E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E4FD1-4C16-4B9A-B5F8-9D11913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Map rule IDs to ground truth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22326-3763-4CF2-8B9B-F9CC1825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81DCB-7871-4ACA-976A-C470E734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19050">
            <a:solidFill>
              <a:srgbClr val="0A817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32DF4-1D64-449A-9329-75C43643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6FF91-2848-4774-9E51-9C8D2DDA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Measure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928AD-97D2-4560-9646-00514652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Calculate TP, FP, FN and scores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DAC0B-9D94-43CC-8C2A-11519756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B8338-AA92-4424-A190-20012C77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111B3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9DC6E-B519-48EE-B5A6-A6729005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8D8B5E-FC8B-471F-967F-E68FDA57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0D96B-10C9-4EEE-A178-8BE89E40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Create per-case and combined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84FAA-44DD-4722-A4E4-CB23983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Strict matching treats findings without a ground-truth mapping as false positives for that controlled case.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CC8D7-0E07-434B-9287-437D2C0F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5371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DD735-6ACA-4202-B505-6F2E04A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Live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08701-A3B2-4AAF-8B25-19DBF7A7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C7D2E8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C7D2E8"/>
                </a:solidFill>
                <a:latin typeface="Avenir Next"/>
                <a:ea typeface="Avenir Next"/>
                <a:cs typeface="Avenir Next"/>
              </a:rPr>
              <a:t>A complete user journey from one labelled case to the corpus-wide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E8438-E31F-46B8-8956-24CBDDAA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Corpus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Process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Inspect outputs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Compare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9DDFF-5FBD-44C3-9BB5-2EC166FF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7D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C7D2E8"/>
                </a:solidFill>
                <a:latin typeface="Avenir Next"/>
                <a:ea typeface="Avenir Next"/>
                <a:cs typeface="Avenir Next"/>
              </a:rPr>
              <a:t>The demonstration follows case-001-privileged-container across all three scanners.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81f3872fd40db"/>
          <a:srcRect xmlns:a="http://schemas.openxmlformats.org/drawingml/2006/main" l="16912" t="0" r="16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514350"/>
            <a:ext cx="6858000" cy="5829300"/>
          </a:xfrm>
          <a:prstGeom xmlns:a="http://schemas.openxmlformats.org/drawingml/2006/main" prst="roundRect">
            <a:avLst>
              <a:gd name="adj" fmla="val 326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5D6BA-7DF4-4D33-AE9D-EB0BD79B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5355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1DB49-86A7-4C15-A7FA-5ED42CD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Major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C6E5B-7AF5-4658-8237-3A052951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BB3CE-95AB-4D1D-B687-EC8DAFAF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Results from this controlled corpus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90550" y="1695450"/>
          <a:ext xmlns:a="http://schemas.openxmlformats.org/drawingml/2006/main" cx="5905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818081f4b3411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5C85-140E-4915-999F-CEB7BDF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Trivy has the strongest overall balance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7CAB3-9DE1-4B46-8490-FBEA614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Dockerfiles produce the highest family scores. Helm produces the lowest because additional unmapped findings reduce precision.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40f6706664e0c"/>
          <a:srcRect xmlns:a="http://schemas.openxmlformats.org/drawingml/2006/main" l="0" t="13592" r="0" b="135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466850"/>
            <a:ext cx="4286250" cy="4857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0CD28-3AC8-4043-BCFE-AB01C3A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6293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2026-09-27T10:39:15.7550000Z</dcterms:created>
  <dcterms:modified xsi:type="dcterms:W3CDTF">2026-09-27T10:39:15.7550000Z</dcterms:modified>
</coreProperties>
</file>