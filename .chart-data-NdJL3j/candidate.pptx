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c5aca257304774" /><Relationship Type="http://schemas.openxmlformats.org/officeDocument/2006/relationships/extended-properties" Target="/docProps/app.xml" Id="Rac2064fcf7ce4aed" /><Relationship Type="http://schemas.openxmlformats.org/officeDocument/2006/relationships/officeDocument" Target="/ppt/presentation.xml" Id="R73e0d5bd1b954b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30a2ff30da4546"/>
  </p:sldMasterIdLst>
  <p:notesMasterIdLst>
    <p:notesMasterId xmlns:r="http://schemas.openxmlformats.org/officeDocument/2006/relationships" r:id="R3530313397d24057"/>
  </p:notesMasterIdLst>
  <p:sldIdLst>
    <p:sldId xmlns:r="http://schemas.openxmlformats.org/officeDocument/2006/relationships" id="256" r:id="R1c21df24b0fb4e39"/>
    <p:sldId xmlns:r="http://schemas.openxmlformats.org/officeDocument/2006/relationships" id="257" r:id="R6c7f9a23883b4414"/>
    <p:sldId xmlns:r="http://schemas.openxmlformats.org/officeDocument/2006/relationships" id="258" r:id="R802b57c3d98d411b"/>
    <p:sldId xmlns:r="http://schemas.openxmlformats.org/officeDocument/2006/relationships" id="259" r:id="R19f0b429873044b4"/>
    <p:sldId xmlns:r="http://schemas.openxmlformats.org/officeDocument/2006/relationships" id="260" r:id="R21976847130343d2"/>
    <p:sldId xmlns:r="http://schemas.openxmlformats.org/officeDocument/2006/relationships" id="261" r:id="R7e59f6cb0d5c47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9551beaaa047a7" /><Relationship Type="http://schemas.openxmlformats.org/officeDocument/2006/relationships/slideMaster" Target="/ppt/slideMasters/slideMaster1.xml" Id="R8f30a2ff30da4546" /><Relationship Type="http://schemas.openxmlformats.org/officeDocument/2006/relationships/notesMaster" Target="/ppt/notesMasters/notesMaster1.xml" Id="R3530313397d24057" /><Relationship Type="http://schemas.openxmlformats.org/officeDocument/2006/relationships/presProps" Target="/ppt/presProps.xml" Id="R062e141937c44112" /><Relationship Type="http://schemas.openxmlformats.org/officeDocument/2006/relationships/tableStyles" Target="/ppt/tableStyles.xml" Id="Raf9b4e8ca78f4524" /><Relationship Type="http://schemas.openxmlformats.org/officeDocument/2006/relationships/slide" Target="/ppt/slides/slide1.xml" Id="R1c21df24b0fb4e39" /><Relationship Type="http://schemas.openxmlformats.org/officeDocument/2006/relationships/slide" Target="/ppt/slides/slide2.xml" Id="R6c7f9a23883b4414" /><Relationship Type="http://schemas.openxmlformats.org/officeDocument/2006/relationships/slide" Target="/ppt/slides/slide3.xml" Id="R802b57c3d98d411b" /><Relationship Type="http://schemas.openxmlformats.org/officeDocument/2006/relationships/slide" Target="/ppt/slides/slide4.xml" Id="R19f0b429873044b4" /><Relationship Type="http://schemas.openxmlformats.org/officeDocument/2006/relationships/slide" Target="/ppt/slides/slide5.xml" Id="R21976847130343d2" /><Relationship Type="http://schemas.openxmlformats.org/officeDocument/2006/relationships/slide" Target="/ppt/slides/slide6.xml" Id="R7e59f6cb0d5c47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fc8c4247a447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3c24967c7542c5" /><Relationship Type="http://schemas.openxmlformats.org/officeDocument/2006/relationships/notesMaster" Target="/ppt/notesMasters/notesMaster1.xml" Id="Ra12e3001cf2646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5083e5a1904603" /><Relationship Type="http://schemas.openxmlformats.org/officeDocument/2006/relationships/notesMaster" Target="/ppt/notesMasters/notesMaster1.xml" Id="R84cf4621ddfc4c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50426f43a64969" /><Relationship Type="http://schemas.openxmlformats.org/officeDocument/2006/relationships/notesMaster" Target="/ppt/notesMasters/notesMaster1.xml" Id="R8005923d307743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064ac629514b30" /><Relationship Type="http://schemas.openxmlformats.org/officeDocument/2006/relationships/notesMaster" Target="/ppt/notesMasters/notesMaster1.xml" Id="Re4a245979fe841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c8e831373c42f2" /><Relationship Type="http://schemas.openxmlformats.org/officeDocument/2006/relationships/notesMaster" Target="/ppt/notesMasters/notesMaster1.xml" Id="R966e6b2fff654a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26b60d2ed14b2a" /><Relationship Type="http://schemas.openxmlformats.org/officeDocument/2006/relationships/notesMaster" Target="/ppt/notesMasters/notesMaster1.xml" Id="Re9d14b190f924d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final-d08.pdf, title slide and project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final-d08.pdf, problem statement; README.md.txt, benchmark purpose and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results/comparison/benchmark-comparison.json. Counts: 60 cases, 20 per artifact family, 160 applicable scanner-case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README.md.txt and pipeline scripts. Stages: raw evidence, normalisation, ground-truth matching, metrics and reporting.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Scanner Benchmark frontend and live dashboard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results/comparison/benchmark-comparison.json. Overall micro F1: Checkov 31.97%, Trivy 42.92%, Kubescape 17.74%. Trivy Dockerfile micro F1 94.74%; Trivy Helm micro F1 27.03%.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1dddd31ad49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b90dfbb08a4009" /><Relationship Type="http://schemas.openxmlformats.org/officeDocument/2006/relationships/slideLayout" Target="/ppt/slideLayouts/slideLayout1.xml" Id="Rdb1033cf75214c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1033cf75214c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c33b165aa42fa" /><Relationship Type="http://schemas.openxmlformats.org/officeDocument/2006/relationships/image" Target="/ppt/media/image.jpeg" Id="Rdd8398120428498b" /><Relationship Type="http://schemas.openxmlformats.org/officeDocument/2006/relationships/notesSlide" Target="/ppt/notesSlides/notesSlide1.xml" Id="Rfff2db3b3a0447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263e119564c2f" /><Relationship Type="http://schemas.openxmlformats.org/officeDocument/2006/relationships/image" Target="/ppt/media/image2.jpeg" Id="R93359b1589dd4d62" /><Relationship Type="http://schemas.openxmlformats.org/officeDocument/2006/relationships/notesSlide" Target="/ppt/notesSlides/notesSlide2.xml" Id="R2002dd6d9b6e4e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4b23235724eab" /><Relationship Type="http://schemas.openxmlformats.org/officeDocument/2006/relationships/notesSlide" Target="/ppt/notesSlides/notesSlide3.xml" Id="Re6b965fe3ecb47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12307236a4024" /><Relationship Type="http://schemas.openxmlformats.org/officeDocument/2006/relationships/notesSlide" Target="/ppt/notesSlides/notesSlide4.xml" Id="R71c6ed4eaec44d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a4e7c442444d9" /><Relationship Type="http://schemas.openxmlformats.org/officeDocument/2006/relationships/image" Target="/ppt/media/image.png" Id="Re44bbd525ae645c5" /><Relationship Type="http://schemas.openxmlformats.org/officeDocument/2006/relationships/notesSlide" Target="/ppt/notesSlides/notesSlide5.xml" Id="Re6061010782f4d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ddad3869049bb" /><Relationship Type="http://schemas.openxmlformats.org/officeDocument/2006/relationships/chart" Target="/ppt/slides/charts/chart1.xml" Id="R0877eb4bf8f9461e" /><Relationship Type="http://schemas.openxmlformats.org/officeDocument/2006/relationships/image" Target="/ppt/media/image3.jpeg" Id="R23aa6df8b20e4ec1" /><Relationship Type="http://schemas.openxmlformats.org/officeDocument/2006/relationships/notesSlide" Target="/ppt/notesSlides/notesSlide6.xml" Id="Ra9ce2ce78d5c456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Overall micro F1</c:v>
          </c:tx>
          <c:spPr>
            <a:solidFill xmlns:a="http://schemas.openxmlformats.org/drawingml/2006/main">
              <a:srgbClr val="2F5B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E8DA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A817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C1D1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Checkov</c:v>
                </c:pt>
                <c:pt idx="1">
                  <c:v>Trivy</c:v>
                </c:pt>
                <c:pt idx="2">
                  <c:v>Kubescape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31.97</c:v>
                </c:pt>
                <c:pt idx="1">
                  <c:v>42.92</c:v>
                </c:pt>
                <c:pt idx="2">
                  <c:v>17.74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venir Next"/>
                    <a:ea typeface="Avenir Next"/>
                    <a:cs typeface="Avenir Next"/>
                  </a:rPr>
                  <a:t>Overall micro F1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398120428498b"/>
          <a:srcRect xmlns:a="http://schemas.openxmlformats.org/drawingml/2006/main" l="0" t="2030" r="0" b="2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44CC1-94F1-4136-90C9-0E9153F6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A4FF9-857F-4C6A-BB95-6B3AEC18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240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0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40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Benchmarking Cloud-Native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0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40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Misconfiguration Scanners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D0FA1-C6AC-4206-BE6B-90CC6CE6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A controlled comparison of Checkov, Trivy and Kubescape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D7267-43C2-4EF7-A5FF-FA6BEB81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244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4B177-98F4-416D-8164-B5EE9806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Honours research presentation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University of Johannesburg</a:t>
            </a:r>
          </a:p>
        </p:txBody>
      </p:sp>
    </p:spTree>
    <p:extLst>
      <p:ext uri="{BB962C8B-B14F-4D97-AF65-F5344CB8AC3E}">
        <p14:creationId xmlns:p14="http://schemas.microsoft.com/office/powerpoint/2010/main" val="2020467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2E12D-542A-4CB3-894C-D152E850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Why scanner results are difficult to compare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6F404-C425-44A4-BE0A-907CBC8E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1B0F3-AB45-4930-98D9-6CA08BE5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The same artifact can produce incompatible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35E47-9FC8-41F0-9424-5EF93DA8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Different rule 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BEA00-AF6C-42FF-972E-D3BED45A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5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Equivalent findings use scanner-specific names, so matching by identifier alone fails.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1D0F6-B9B2-4DFD-84E7-FB4CB1FD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BD88C-4FC2-4FFA-8E8C-DCEE276F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Different JSON structures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D7616-4794-4110-B36C-9F535E0A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Raw alert totals do not prove that a scanner found the issue that the case was built to 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AA957-6AFC-4DA0-902E-5E6851D7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5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A fair comparison needs labelled ground truth and one common evaluation method.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59b1589dd4d62"/>
          <a:srcRect xmlns:a="http://schemas.openxmlformats.org/drawingml/2006/main" l="0" t="23135" r="0" b="23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485900"/>
            <a:ext cx="5905500" cy="4762500"/>
          </a:xfrm>
          <a:prstGeom xmlns:a="http://schemas.openxmlformats.org/drawingml/2006/main" prst="roundRect">
            <a:avLst>
              <a:gd name="adj" fmla="val 44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EF1F6-5130-49EB-A6EF-70AF7CA9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5113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93D3A-3B7E-4732-82C3-3FFAA2D4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Controlled benchmark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11CCE-88D6-4D49-9E63-A99E7A8D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59CC1-0C87-48D5-B499-82848E43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Ground truth is defined before scanner performance is evaluated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BF13F-1B9C-4DE3-A9A8-7D50B547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050" b="1">
                <a:solidFill>
                  <a:srgbClr val="2F5BFF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2F5BFF"/>
                </a:solidFill>
                <a:latin typeface="Avenir Next"/>
                <a:ea typeface="Avenir Next"/>
                <a:cs typeface="Avenir Next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70A6B-6D8B-499C-9BC0-56C8A243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deliberately insecure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8AA5A-C075-40D5-A7AD-D6BFB734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76400"/>
            <a:ext cx="190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61BA1-68D1-4F9A-A723-0ECE5529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05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160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0E84A-E046-411B-A3FB-A41EDFC3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applicable scanner-case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43732-1D2B-4EBA-AD76-818F91D2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190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C8F3D-94E1-42A3-9643-8457FD7E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6687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05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9585C-C2F0-41EB-83F1-4E9C17F6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artifact families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D533C-9624-4A30-BC87-B1A1FC3E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EA969-BEA0-4079-909B-C1BF5C04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20 Kubernetes YAML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3AAEA-0C2E-4021-BAF2-1252372A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F5B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F5BFF"/>
                </a:solidFill>
                <a:latin typeface="Avenir Next"/>
                <a:ea typeface="Avenir Next"/>
                <a:cs typeface="Avenir Next"/>
              </a:rPr>
              <a:t>20 Dockerfiles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AB536-567B-4AB9-8A43-AE892A29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20 Helm charts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5CA77-979E-45E0-864D-36D364A0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Checkov · Trivy · Kubescape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94052-6647-48D5-A73F-71B02B9D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29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Kubescape is not applicable to Dockerfiles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8DCA4-BE58-4848-8E54-598FCEDA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8430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52C24A-5C58-46FA-8C42-FB91E6BE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Evaluation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1D050-16A1-4096-8310-4395C22B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15FED-469A-4772-93BD-C805A9A9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Every scanner follows the same traceable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559EC-DD73-469F-8328-DF39F293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111B3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8AAEA-13C6-4738-BDDC-C9A12E7E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1F982-26C1-4AF7-8D36-3A323259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Raw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40BF9-D654-474C-83A8-6B40395D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Keep the scanner's original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C4E75-6399-4AD9-B9B7-056CB451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527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1674B-DB92-4156-8F27-2D941D0C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19050">
            <a:solidFill>
              <a:srgbClr val="0A817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0B68B-C49B-43FE-A0E7-C0E2E0F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B0DC5-2B9D-46FC-8CAD-0C80582F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Normalise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07973-73F2-4F5A-AB03-404F1EBE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Convert findings to one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404B2-E048-42C7-9D9B-B8AA7270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527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6258B-F26E-4A26-A941-9C60D9D6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2F5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58C43-A31E-4C09-A2D5-390F2F32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F5B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F5B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E83C0-7B0D-4F2C-9423-19EBBE91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8858D-9390-4B29-AFFB-DF5C405F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Map rule IDs to ground truth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53BDC-8FAF-497B-A423-5A9B3D48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527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CFF1F-6F1E-459B-84CB-33AA6CF5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19050">
            <a:solidFill>
              <a:srgbClr val="0A817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CE72A-D0C0-452E-88B2-3AA84D18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DE268-A21F-4458-B71B-359252C3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Measure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E5E3B-DECA-4F5F-97F9-F1A1CC61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Calculate TP, FP, FN and scores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CC360-9B65-4683-A67E-51412265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527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316F1-3AAD-4D81-9512-5E3E77E9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111B3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3F6E3-A7AD-4A50-A54F-5A64E171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50B2C-B9CE-4962-A583-E4B93092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F1D5EF-0A7F-4190-A3AF-856A2C0C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Create per-case and combined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87AED-9A4C-4196-91D6-48F8364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Strict matching treats findings without a ground-truth mapping as false positives for that controlled case.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CBC164-8533-4B8C-AFD7-510A4C6D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0553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3CBFD-2688-44B3-8A1F-EAFF5DC0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7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Live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B19B1-7F17-4B39-9B21-21F7926A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C7D2E8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C7D2E8"/>
                </a:solidFill>
                <a:latin typeface="Avenir Next"/>
                <a:ea typeface="Avenir Next"/>
                <a:cs typeface="Avenir Next"/>
              </a:rPr>
              <a:t>A complete user journey from one labelled case to the corpus-wide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F2E09-285F-4BEA-BE67-8FA9CA3A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rPr>
              <a:t>Corpus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rPr>
              <a:t>Process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rPr>
              <a:t>Inspect outputs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rPr>
              <a:t>Compare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BA44-9F28-485A-BDDF-3E3E7685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7D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C7D2E8"/>
                </a:solidFill>
                <a:latin typeface="Avenir Next"/>
                <a:ea typeface="Avenir Next"/>
                <a:cs typeface="Avenir Next"/>
              </a:rPr>
              <a:t>The demonstration follows case-001-privileged-container across all three scanners.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bbd525ae645c5"/>
          <a:srcRect xmlns:a="http://schemas.openxmlformats.org/drawingml/2006/main" l="16912" t="0" r="16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800" y="514350"/>
            <a:ext cx="6858000" cy="5829300"/>
          </a:xfrm>
          <a:prstGeom xmlns:a="http://schemas.openxmlformats.org/drawingml/2006/main" prst="roundRect">
            <a:avLst>
              <a:gd name="adj" fmla="val 326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218B0-EB53-445F-887C-6E46A827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4615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71B3F-F2C4-4C41-8B7F-27BEE9E4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Major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93A4A-7BBE-444A-BEBC-140C1EEB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C8CF4-D3DF-4CFB-AAE2-18223EF6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Results from this controlled corpus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90550" y="1695450"/>
          <a:ext xmlns:a="http://schemas.openxmlformats.org/drawingml/2006/main" cx="5905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77eb4bf8f9461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0AF12-C31B-4A79-AB72-2572084E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Trivy has the strongest overall balance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C6E93-936C-4272-9481-49B85EE8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Dockerfiles produce the highest family scores. Helm produces the lowest because additional unmapped findings reduce precision.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a6df8b20e4ec1"/>
          <a:srcRect xmlns:a="http://schemas.openxmlformats.org/drawingml/2006/main" l="0" t="13592" r="0" b="135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466850"/>
            <a:ext cx="4286250" cy="4857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16408-66EC-4B2F-94B4-527890E2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7086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2026-09-27T10:39:26.2610000Z</dcterms:created>
  <dcterms:modified xsi:type="dcterms:W3CDTF">2026-09-27T10:39:26.2610000Z</dcterms:modified>
</coreProperties>
</file>